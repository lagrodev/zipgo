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75" r:id="rId9"/>
    <p:sldId id="263" r:id="rId10"/>
    <p:sldId id="265" r:id="rId11"/>
    <p:sldId id="274" r:id="rId12"/>
    <p:sldId id="262" r:id="rId13"/>
    <p:sldId id="266" r:id="rId14"/>
    <p:sldId id="267" r:id="rId15"/>
    <p:sldId id="268" r:id="rId16"/>
    <p:sldId id="269" r:id="rId17"/>
    <p:sldId id="270" r:id="rId18"/>
    <p:sldId id="271" r:id="rId19"/>
    <p:sldId id="276" r:id="rId2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Средний стиль 2 — акцент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38" autoAdjust="0"/>
    <p:restoredTop sz="94660"/>
  </p:normalViewPr>
  <p:slideViewPr>
    <p:cSldViewPr snapToGrid="0" showGuides="1">
      <p:cViewPr varScale="1">
        <p:scale>
          <a:sx n="109" d="100"/>
          <a:sy n="109" d="100"/>
        </p:scale>
        <p:origin x="600" y="180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C1BC1D-608B-4BD7-86AB-695BFD874CE5}" type="datetimeFigureOut">
              <a:rPr lang="ru-RU" smtClean="0"/>
              <a:t>06.06.2026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92933C-7907-4B17-82E6-AD0A4EAEFE0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206422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DEEEDFE-873B-58CE-7AFA-E03C17030A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52D9132-0DE5-03E5-42BA-AE129BAB4E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0CCAA3E-7982-935E-3F3E-EA7792DAE7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D32927-0E7C-46C8-A14E-24BF8FE92D96}" type="datetime1">
              <a:rPr lang="ru-RU" smtClean="0"/>
              <a:t>06.06.2026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F21BAC5-9671-C505-F6B5-9641599D27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14A8552-22D8-84EC-7DE7-5AABA13866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FD44B-35C6-4D7F-8375-05542F4C316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610516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1776234-D212-4481-B0C1-F37B336EA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46C6321-E607-A070-F301-52941335A8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56815EB-5740-2ED6-BAEB-A775F9B1B0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23C617-AF82-4DCD-983A-603B79C8CD5A}" type="datetime1">
              <a:rPr lang="ru-RU" smtClean="0"/>
              <a:t>06.06.2026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0F6F1CE-ADFA-04F9-49F3-352C6A8439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B24CA37-7FB8-E97F-EC72-12770C5B2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FD44B-35C6-4D7F-8375-05542F4C316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880545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8583665-D298-B22E-2606-1B75947050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3CD33AB-F652-913E-37EC-E7A37DC02A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4AA2518-CB5A-1F2D-1BF6-9BE0844A07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70E05-AF18-43B3-8D97-82E0541A2C15}" type="datetime1">
              <a:rPr lang="ru-RU" smtClean="0"/>
              <a:t>06.06.2026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CF0CD77-6322-5BC2-4B6E-0BB4BE3CBC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4357FFB-A2CC-79E8-04E0-67ECD6493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FD44B-35C6-4D7F-8375-05542F4C316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00757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B83BF88-FE24-DB91-6BD4-97E3928C6A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94E3A28-E1B3-EDE6-AD36-7154B74CD0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4356B95-CE25-EE97-7663-797EA6B709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94C810D-2DCE-1114-19A4-7B27A1662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8EF8E-3326-4A94-8455-3E6ABEEAA37F}" type="datetime1">
              <a:rPr lang="ru-RU" smtClean="0"/>
              <a:t>06.06.2026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E97409E-1D5D-06B7-9AC8-B626E9B165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8605C87-C2A9-8FC8-D201-F4E8A5261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FD44B-35C6-4D7F-8375-05542F4C316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80242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3397E58-9CB4-78E3-93EE-67BD4F5B34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BDF834A-D999-1758-B3CB-C3E33E5539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AA77830-6C58-199C-DCE5-EC5C2314CF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55EA947-AEAE-3AC6-46C8-3F2E9D341A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5D189EF9-3C88-D57F-B773-4E1123FD68C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A2AA4AC1-719D-5E93-4D43-C848E95E79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FF6F94-74EA-4732-B659-5020842583D9}" type="datetime1">
              <a:rPr lang="ru-RU" smtClean="0"/>
              <a:t>06.06.2026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5D85A79F-B4E2-2562-EC79-B5C4235A94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496EFA39-7CC7-12AC-B0C2-95EF36715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FD44B-35C6-4D7F-8375-05542F4C316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92749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13BCF3-12CF-1F12-5FED-08D386811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3D782947-6745-2204-6A1D-7BFD19BAF8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FF08B-81CD-4BF9-AAD7-FFA8CB645773}" type="datetime1">
              <a:rPr lang="ru-RU" smtClean="0"/>
              <a:t>06.06.2026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610A62D5-523E-91DB-F33C-280F7E0786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103D5E11-27BA-0E75-C80E-2D9308FB4E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FD44B-35C6-4D7F-8375-05542F4C316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963260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75767540-383B-2AB7-DDCF-BD728C9784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BA5AB1-1796-45BC-8C6C-F6C6B29FFE91}" type="datetime1">
              <a:rPr lang="ru-RU" smtClean="0"/>
              <a:t>06.06.2026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7B377A22-CC62-C8E7-B662-C90CCED904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9084CF5-CFB3-49A9-C070-671B033DBB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FD44B-35C6-4D7F-8375-05542F4C316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827103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A4FCB8F-4107-F52A-FAE1-AA6755440C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C4180DA-D839-9BCF-3F7D-67CC7270F3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4DC984C-22B4-3FFD-7586-B5CAF7E07D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7DB79E1-81DE-98F7-3D48-51680D8E62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4AD41-CB81-4E3A-856D-30FD341680BA}" type="datetime1">
              <a:rPr lang="ru-RU" smtClean="0"/>
              <a:t>06.06.2026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7387125-DA17-C087-DD9F-8842C1AFDF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6F28C5C-80B4-1269-049B-FFA4BF97D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FD44B-35C6-4D7F-8375-05542F4C316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391249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4660EE-A176-0AFE-28EA-C01977C2BF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8CF1C9BB-EEA4-A287-3C28-A4F3F64ABD9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E6DD287-6DE5-0E48-94AA-3E5295BF87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28835DD-C885-EE86-9E15-C7A531280E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784BB-C1C1-4073-A877-562FF624007D}" type="datetime1">
              <a:rPr lang="ru-RU" smtClean="0"/>
              <a:t>06.06.2026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2FA8858-1B67-BB3A-0CA9-272390B83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07F1C17-A66D-F4D4-7E4D-A4A0F76380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FD44B-35C6-4D7F-8375-05542F4C316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6641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48A971C-B900-E82B-59B7-324B1BD41C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EA78ACB1-8C1B-ED84-63C3-6814F02E59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129342E-0DB9-DB13-B1AB-73CB5EF015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1D2A4D-463D-4A0D-B986-F593FD5D9465}" type="datetime1">
              <a:rPr lang="ru-RU" smtClean="0"/>
              <a:t>06.06.2026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219C0F7-C8AC-83E5-361A-1B1A2063B2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7F5D3B6-1AC2-3712-A5D2-7E8222F941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FD44B-35C6-4D7F-8375-05542F4C316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755250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2BD6CEEF-CDDF-7745-5A1A-A85999F082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DEF5CAB-0525-88E3-4096-6806E4D182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47D6AC5-E7D2-3675-B8FA-5F08339593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A8FAA-BE16-4D21-B975-126ECA8669C8}" type="datetime1">
              <a:rPr lang="ru-RU" smtClean="0"/>
              <a:t>06.06.2026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A087A6B-70B0-D1C5-7AB5-6C3DE57785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8EE816C-21EC-75F6-E35E-E1E207F41D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FD44B-35C6-4D7F-8375-05542F4C316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266210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CCC57DC-A797-FAE0-3565-39E7D6405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597EB64-160C-F728-E883-2E4765459C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E08C0AF-883B-03A1-6469-7806D96F7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15CDE4-F21D-4A8A-A0D3-20225BE6439C}" type="datetime1">
              <a:rPr lang="ru-RU" smtClean="0"/>
              <a:t>06.06.2026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1B8F5CE-CB1F-5D93-5C50-BA3B0FF149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7FB98F5-B021-CF36-4ADD-17F272E604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CFD44B-35C6-4D7F-8375-05542F4C316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639395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1D0B3C-4330-775A-D8A5-7BDDA7A225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6700" y="190501"/>
            <a:ext cx="11658600" cy="1276349"/>
          </a:xfrm>
        </p:spPr>
        <p:txBody>
          <a:bodyPr>
            <a:normAutofit/>
          </a:bodyPr>
          <a:lstStyle/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МИНОБРНАУКИ РОССИИ ФЕДЕРАЛЬНОЕ ГОСУДАРСТВЕННОЕ БЮДЖЕТНОЕ ОБРАЗОВАТЕЛЬНОЕ УЧРЕЖДЕНИЕ ВЫСШЕГО ОБРАЗОВАНИЯ «ВОРОНЕЖСКИЙ ГОСУДАРСТВЕННЫЙ УНИВЕРСИТЕТ» (ФГБОУ ВО «ВГУ») 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41DE144-93D5-2280-8A77-9356B71E17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905000"/>
            <a:ext cx="9144000" cy="703911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00000"/>
              </a:lnSpc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Факультет компьютерных наук </a:t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Кафедра программирования и информационных технологий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12847BE-98AB-59E3-A177-3FA39E069FD2}"/>
              </a:ext>
            </a:extLst>
          </p:cNvPr>
          <p:cNvSpPr txBox="1"/>
          <p:nvPr/>
        </p:nvSpPr>
        <p:spPr>
          <a:xfrm>
            <a:off x="485775" y="3047061"/>
            <a:ext cx="11220450" cy="1179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ru-RU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Разработка информационной системы предоставления краткосрочной аренды </a:t>
            </a:r>
            <a:r>
              <a:rPr lang="ru-RU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автомобией</a:t>
            </a:r>
            <a:endParaRPr lang="ru-RU" sz="3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1228718-D8F8-BF9A-8013-0211D7649721}"/>
              </a:ext>
            </a:extLst>
          </p:cNvPr>
          <p:cNvSpPr txBox="1"/>
          <p:nvPr/>
        </p:nvSpPr>
        <p:spPr>
          <a:xfrm>
            <a:off x="6838950" y="5225534"/>
            <a:ext cx="508635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Научный руководитель: Ушаков В.А.</a:t>
            </a: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Выполнил: Мельник В.А.</a:t>
            </a:r>
          </a:p>
        </p:txBody>
      </p:sp>
    </p:spTree>
    <p:extLst>
      <p:ext uri="{BB962C8B-B14F-4D97-AF65-F5344CB8AC3E}">
        <p14:creationId xmlns:p14="http://schemas.microsoft.com/office/powerpoint/2010/main" val="30793948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8F4261-8EE3-6679-5526-E273EBEC47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Актуальность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7F741E9-70D7-4A4A-BC2E-5D42B22B69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Рост рынка краткосрочной аренды автомобилей требует доступных инструментов автоматизации для малого бизнеса</a:t>
            </a:r>
          </a:p>
          <a:p>
            <a:r>
              <a:rPr lang="ru-RU" dirty="0"/>
              <a:t>Существующие платформы ориентированы на крупных операторов и недоступны для независимого арендодателя</a:t>
            </a:r>
          </a:p>
          <a:p>
            <a:r>
              <a:rPr lang="ru-RU" dirty="0"/>
              <a:t>Отсутствие </a:t>
            </a:r>
            <a:r>
              <a:rPr lang="ru-RU" dirty="0" err="1"/>
              <a:t>open-source</a:t>
            </a:r>
            <a:r>
              <a:rPr lang="ru-RU" dirty="0"/>
              <a:t> решения с полным циклом: каталог, бронирование, договоры, мобильный клиент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4F3E059-FD0E-C90B-98CF-F71B34464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FD44B-35C6-4D7F-8375-05542F4C3161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823044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0EDE307-A5B2-60A1-393A-8DF2362DE2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 работы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F89E767-60CA-90F5-5942-E78CE8ECC2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информационной системы предоставления краткосрочной аренды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автомобией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 веб и мобильным клиентом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CCDECE3-32F9-C7FF-42E7-65DDF3DF3A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FD44B-35C6-4D7F-8375-05542F4C3161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339052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C49F3A9-F13F-35D6-0A91-7E2429C79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Задачи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92E440C-EDB3-F8DA-635E-3B82D40CDB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предметной области и существующих решений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Проектирование архитектуры и базы данных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и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рализация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серверной и клиентской частей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4E9D496-570F-77B6-D24E-2DD3517AD7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FD44B-35C6-4D7F-8375-05542F4C3161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309061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4B3A8E5-4793-0A47-83F6-520468FA93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Обзор аналогов</a:t>
            </a:r>
          </a:p>
        </p:txBody>
      </p:sp>
      <p:graphicFrame>
        <p:nvGraphicFramePr>
          <p:cNvPr id="8" name="Объект 7">
            <a:extLst>
              <a:ext uri="{FF2B5EF4-FFF2-40B4-BE49-F238E27FC236}">
                <a16:creationId xmlns:a16="http://schemas.microsoft.com/office/drawing/2014/main" id="{45CB9EB1-D899-C216-EA10-BC30A6ECE44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34872394"/>
              </p:ext>
            </p:extLst>
          </p:nvPr>
        </p:nvGraphicFramePr>
        <p:xfrm>
          <a:off x="470254" y="1546604"/>
          <a:ext cx="11251492" cy="5174871"/>
        </p:xfrm>
        <a:graphic>
          <a:graphicData uri="http://schemas.openxmlformats.org/drawingml/2006/table">
            <a:tbl>
              <a:tblPr firstRow="1" firstCol="1" bandRow="1"/>
              <a:tblGrid>
                <a:gridCol w="3819314">
                  <a:extLst>
                    <a:ext uri="{9D8B030D-6E8A-4147-A177-3AD203B41FA5}">
                      <a16:colId xmlns:a16="http://schemas.microsoft.com/office/drawing/2014/main" val="1274599346"/>
                    </a:ext>
                  </a:extLst>
                </a:gridCol>
                <a:gridCol w="2251887">
                  <a:extLst>
                    <a:ext uri="{9D8B030D-6E8A-4147-A177-3AD203B41FA5}">
                      <a16:colId xmlns:a16="http://schemas.microsoft.com/office/drawing/2014/main" val="76331873"/>
                    </a:ext>
                  </a:extLst>
                </a:gridCol>
                <a:gridCol w="2691782">
                  <a:extLst>
                    <a:ext uri="{9D8B030D-6E8A-4147-A177-3AD203B41FA5}">
                      <a16:colId xmlns:a16="http://schemas.microsoft.com/office/drawing/2014/main" val="1939800519"/>
                    </a:ext>
                  </a:extLst>
                </a:gridCol>
                <a:gridCol w="2488509">
                  <a:extLst>
                    <a:ext uri="{9D8B030D-6E8A-4147-A177-3AD203B41FA5}">
                      <a16:colId xmlns:a16="http://schemas.microsoft.com/office/drawing/2014/main" val="309762503"/>
                    </a:ext>
                  </a:extLst>
                </a:gridCol>
              </a:tblGrid>
              <a:tr h="492369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4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Критерий</a:t>
                      </a:r>
                      <a:endParaRPr lang="ru-RU" sz="2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4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Яндекс Go</a:t>
                      </a:r>
                      <a:endParaRPr lang="ru-RU" sz="2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4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Delimobil</a:t>
                      </a:r>
                      <a:endParaRPr lang="ru-RU" sz="2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4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Разрабатываемая система</a:t>
                      </a:r>
                      <a:endParaRPr lang="ru-RU" sz="2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7067125"/>
                  </a:ext>
                </a:extLst>
              </a:tr>
              <a:tr h="774019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4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Доступность для стороннего арендодателя</a:t>
                      </a:r>
                      <a:endParaRPr lang="ru-RU" sz="2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4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Нет</a:t>
                      </a:r>
                      <a:endParaRPr lang="ru-RU" sz="2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4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Нет</a:t>
                      </a:r>
                      <a:endParaRPr lang="ru-RU" sz="2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4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Да</a:t>
                      </a:r>
                      <a:endParaRPr lang="ru-RU" sz="2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5161693"/>
                  </a:ext>
                </a:extLst>
              </a:tr>
              <a:tr h="800692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4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Посуточная аренда с контрактом</a:t>
                      </a:r>
                      <a:endParaRPr lang="ru-RU" sz="2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4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Нет</a:t>
                      </a:r>
                      <a:endParaRPr lang="ru-RU" sz="2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4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Частично</a:t>
                      </a:r>
                      <a:endParaRPr lang="ru-RU" sz="2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4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Да</a:t>
                      </a:r>
                      <a:endParaRPr lang="ru-RU" sz="2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1645336"/>
                  </a:ext>
                </a:extLst>
              </a:tr>
              <a:tr h="880119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4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Управление собственным каталогом</a:t>
                      </a:r>
                      <a:endParaRPr lang="ru-RU" sz="2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4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Нет</a:t>
                      </a:r>
                      <a:endParaRPr lang="ru-RU" sz="2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4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Нет</a:t>
                      </a:r>
                      <a:endParaRPr lang="ru-RU" sz="2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4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Да</a:t>
                      </a:r>
                      <a:endParaRPr lang="ru-RU" sz="2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3463054"/>
                  </a:ext>
                </a:extLst>
              </a:tr>
              <a:tr h="117787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4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Формирование и хранение контрактов</a:t>
                      </a:r>
                      <a:endParaRPr lang="ru-RU" sz="2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4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Нет</a:t>
                      </a:r>
                      <a:endParaRPr lang="ru-RU" sz="2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4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Нет</a:t>
                      </a:r>
                      <a:endParaRPr lang="ru-RU" sz="2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4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Да</a:t>
                      </a:r>
                      <a:endParaRPr lang="ru-RU" sz="2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7555934"/>
                  </a:ext>
                </a:extLst>
              </a:tr>
              <a:tr h="778707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4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Административная аналитика</a:t>
                      </a:r>
                      <a:endParaRPr lang="ru-RU" sz="2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4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Нет</a:t>
                      </a:r>
                      <a:endParaRPr lang="ru-RU" sz="2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4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Нет</a:t>
                      </a:r>
                      <a:endParaRPr lang="ru-RU" sz="2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4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Да</a:t>
                      </a:r>
                      <a:endParaRPr lang="ru-RU" sz="2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814459"/>
                  </a:ext>
                </a:extLst>
              </a:tr>
            </a:tbl>
          </a:graphicData>
        </a:graphic>
      </p:graphicFrame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01B60F4B-3D60-8903-5BF3-410561D019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FD44B-35C6-4D7F-8375-05542F4C3161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743194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94F8A6E-FDC5-6373-A083-EE9767E0F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Средства реализации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D2DBC4B-A718-D305-BDDA-B4A9B96C39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Vue.js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 Spring Boot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Kotlin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PostgreSQL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Docker</a:t>
            </a: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MinIo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0" name="Picture 2" descr="Picture background">
            <a:extLst>
              <a:ext uri="{FF2B5EF4-FFF2-40B4-BE49-F238E27FC236}">
                <a16:creationId xmlns:a16="http://schemas.microsoft.com/office/drawing/2014/main" id="{9544882C-AE09-0F93-8CFE-98E1137603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7766" y="1694528"/>
            <a:ext cx="1818894" cy="15753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Picture background">
            <a:extLst>
              <a:ext uri="{FF2B5EF4-FFF2-40B4-BE49-F238E27FC236}">
                <a16:creationId xmlns:a16="http://schemas.microsoft.com/office/drawing/2014/main" id="{89735420-DD17-E8AE-EA85-FF68F8FAD4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9930" y="1898921"/>
            <a:ext cx="1959236" cy="19578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Picture background">
            <a:extLst>
              <a:ext uri="{FF2B5EF4-FFF2-40B4-BE49-F238E27FC236}">
                <a16:creationId xmlns:a16="http://schemas.microsoft.com/office/drawing/2014/main" id="{076C85BD-1DB2-4577-F6E6-7B74000357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79166" y="-271373"/>
            <a:ext cx="3058834" cy="3058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6" name="Picture 18" descr="Picture background">
            <a:extLst>
              <a:ext uri="{FF2B5EF4-FFF2-40B4-BE49-F238E27FC236}">
                <a16:creationId xmlns:a16="http://schemas.microsoft.com/office/drawing/2014/main" id="{2044742B-B3C0-1174-E87C-39C45D5D5F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9288" y="4917787"/>
            <a:ext cx="1221283" cy="125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70" name="Picture 22" descr="Picture background">
            <a:extLst>
              <a:ext uri="{FF2B5EF4-FFF2-40B4-BE49-F238E27FC236}">
                <a16:creationId xmlns:a16="http://schemas.microsoft.com/office/drawing/2014/main" id="{24C74B57-C9DA-C3E1-09B5-3D6B3CECAF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04520" y="5296477"/>
            <a:ext cx="1059873" cy="10598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048A849-D81D-83DB-39D2-12401C44A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FD44B-35C6-4D7F-8375-05542F4C3161}" type="slidenum">
              <a:rPr lang="ru-RU" smtClean="0"/>
              <a:t>6</a:t>
            </a:fld>
            <a:endParaRPr lang="ru-RU"/>
          </a:p>
        </p:txBody>
      </p:sp>
      <p:pic>
        <p:nvPicPr>
          <p:cNvPr id="2054" name="Picture 6">
            <a:extLst>
              <a:ext uri="{FF2B5EF4-FFF2-40B4-BE49-F238E27FC236}">
                <a16:creationId xmlns:a16="http://schemas.microsoft.com/office/drawing/2014/main" id="{3A01CC81-0B23-4A19-9431-56BB8CEA4A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0559" y="3975673"/>
            <a:ext cx="1430215" cy="14302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MinIO Console | TrueNAS Apps Market">
            <a:extLst>
              <a:ext uri="{FF2B5EF4-FFF2-40B4-BE49-F238E27FC236}">
                <a16:creationId xmlns:a16="http://schemas.microsoft.com/office/drawing/2014/main" id="{A9A45202-3416-4120-B0BD-4137652DF3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42965" y="3697678"/>
            <a:ext cx="1384011" cy="27951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B45D6EA-8E60-4B2D-9F82-EE9E9EBFA1C0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b="32625"/>
          <a:stretch/>
        </p:blipFill>
        <p:spPr>
          <a:xfrm>
            <a:off x="9793475" y="3003342"/>
            <a:ext cx="1430215" cy="841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44519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6C7C113-E2D1-CFB0-F79A-971F02730E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Архитектура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4F9EC85-6EB5-C9B9-9A71-0984315634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Клиент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Vue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одностраничное веб-приложение (SPA)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Сервер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Spring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MVC (Model-View-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Controller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Клиент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Android –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нативное приложение,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MVVM (Model-View-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ViewModel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055A44B-A230-9A68-AD9C-C93659BA50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FD44B-35C6-4D7F-8375-05542F4C3161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213249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89A9F52-C13C-EC3C-B18A-73BE6A073A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Диаграмма развёртывания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6F092EE-4A06-9DD1-AE11-E010294987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FD44B-35C6-4D7F-8375-05542F4C3161}" type="slidenum">
              <a:rPr lang="ru-RU" smtClean="0"/>
              <a:t>8</a:t>
            </a:fld>
            <a:endParaRPr lang="ru-RU"/>
          </a:p>
        </p:txBody>
      </p:sp>
      <p:pic>
        <p:nvPicPr>
          <p:cNvPr id="16" name="Объект 15">
            <a:extLst>
              <a:ext uri="{FF2B5EF4-FFF2-40B4-BE49-F238E27FC236}">
                <a16:creationId xmlns:a16="http://schemas.microsoft.com/office/drawing/2014/main" id="{666E2C1D-3A88-40EB-B34A-5A39F7150DE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85362" y="2434213"/>
            <a:ext cx="8421275" cy="3134162"/>
          </a:xfrm>
        </p:spPr>
      </p:pic>
    </p:spTree>
    <p:extLst>
      <p:ext uri="{BB962C8B-B14F-4D97-AF65-F5344CB8AC3E}">
        <p14:creationId xmlns:p14="http://schemas.microsoft.com/office/powerpoint/2010/main" val="13208025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1A8AD95-D747-7693-F25C-2774E9F6BA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6654" y="136525"/>
            <a:ext cx="10515600" cy="1325563"/>
          </a:xfrm>
        </p:spPr>
        <p:txBody>
          <a:bodyPr/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Проектирование базы данных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13FC2286-6C90-C1AA-EF4B-C37B2AEEB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FD44B-35C6-4D7F-8375-05542F4C3161}" type="slidenum">
              <a:rPr lang="ru-RU" smtClean="0"/>
              <a:t>9</a:t>
            </a:fld>
            <a:endParaRPr lang="ru-RU"/>
          </a:p>
        </p:txBody>
      </p:sp>
      <p:pic>
        <p:nvPicPr>
          <p:cNvPr id="17" name="Объект 16">
            <a:extLst>
              <a:ext uri="{FF2B5EF4-FFF2-40B4-BE49-F238E27FC236}">
                <a16:creationId xmlns:a16="http://schemas.microsoft.com/office/drawing/2014/main" id="{B794B625-C5B9-4B09-A9FA-12F80F9127C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24923" y="1502603"/>
            <a:ext cx="9542153" cy="4813231"/>
          </a:xfrm>
        </p:spPr>
      </p:pic>
    </p:spTree>
    <p:extLst>
      <p:ext uri="{BB962C8B-B14F-4D97-AF65-F5344CB8AC3E}">
        <p14:creationId xmlns:p14="http://schemas.microsoft.com/office/powerpoint/2010/main" val="26573408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18BAE98-42E0-7463-DF94-7CD014FA8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Алгоритм действий пользователя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08F2FF7-12D5-EE82-735C-D7E64DCCE2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Загрузка каталога автомобилей с фильтрацией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Фильтрация по марке, классу, датам, цене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Просмотр фото, характеристик, стоимости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Создание аренды — выбор периода → расчёт стоимости → подтверждение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Договор — статус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PENDING → ACTIVE → COMPLETED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C6B0930-ED4E-79D9-CA08-BA8E0D8E3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FD44B-35C6-4D7F-8375-05542F4C3161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080796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77CEDD6-111B-BB33-55A9-66DA1C25F3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98071"/>
            <a:ext cx="10515600" cy="1325563"/>
          </a:xfrm>
        </p:spPr>
        <p:txBody>
          <a:bodyPr/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Диаграмма последовательностей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DF2B549-DD70-6725-B430-2CF45F37D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FD44B-35C6-4D7F-8375-05542F4C3161}" type="slidenum">
              <a:rPr lang="ru-RU" smtClean="0"/>
              <a:t>11</a:t>
            </a:fld>
            <a:endParaRPr lang="ru-RU"/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0B3763CB-A6CA-4D1F-8701-523A2553758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4352"/>
          <a:stretch/>
        </p:blipFill>
        <p:spPr>
          <a:xfrm>
            <a:off x="1252638" y="1238677"/>
            <a:ext cx="9852047" cy="5494838"/>
          </a:xfrm>
        </p:spPr>
      </p:pic>
    </p:spTree>
    <p:extLst>
      <p:ext uri="{BB962C8B-B14F-4D97-AF65-F5344CB8AC3E}">
        <p14:creationId xmlns:p14="http://schemas.microsoft.com/office/powerpoint/2010/main" val="30563567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E3B414A-0B1E-2779-894E-520E18C51A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Диаграмма прецедентов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A731D9C-2818-FE89-99B6-ED4144A415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FD44B-35C6-4D7F-8375-05542F4C3161}" type="slidenum">
              <a:rPr lang="ru-RU" smtClean="0"/>
              <a:t>12</a:t>
            </a:fld>
            <a:endParaRPr lang="ru-RU"/>
          </a:p>
        </p:txBody>
      </p:sp>
      <p:pic>
        <p:nvPicPr>
          <p:cNvPr id="21" name="Объект 20">
            <a:extLst>
              <a:ext uri="{FF2B5EF4-FFF2-40B4-BE49-F238E27FC236}">
                <a16:creationId xmlns:a16="http://schemas.microsoft.com/office/drawing/2014/main" id="{035C568D-7A84-496A-AC91-43A8702D157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73179" y="1458961"/>
            <a:ext cx="7045642" cy="5033914"/>
          </a:xfrm>
        </p:spPr>
      </p:pic>
    </p:spTree>
    <p:extLst>
      <p:ext uri="{BB962C8B-B14F-4D97-AF65-F5344CB8AC3E}">
        <p14:creationId xmlns:p14="http://schemas.microsoft.com/office/powerpoint/2010/main" val="12813681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F51F7B3-3124-037B-9397-53BAD8FD9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850" y="78109"/>
            <a:ext cx="10515600" cy="1325563"/>
          </a:xfrm>
        </p:spPr>
        <p:txBody>
          <a:bodyPr/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Главная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41456C1D-FAAA-4046-0132-916ED2096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FD44B-35C6-4D7F-8375-05542F4C3161}" type="slidenum">
              <a:rPr lang="ru-RU" smtClean="0"/>
              <a:t>13</a:t>
            </a:fld>
            <a:endParaRPr lang="ru-RU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7B65A798-A386-4171-81AE-C75EA9C074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6902" y="3429000"/>
            <a:ext cx="1507267" cy="3265165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623E95C8-5847-4D19-B492-B27F8EE434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3913" y="182562"/>
            <a:ext cx="1805698" cy="4048125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pic>
        <p:nvPicPr>
          <p:cNvPr id="12" name="Объект 11">
            <a:extLst>
              <a:ext uri="{FF2B5EF4-FFF2-40B4-BE49-F238E27FC236}">
                <a16:creationId xmlns:a16="http://schemas.microsoft.com/office/drawing/2014/main" id="{554C3EB9-0A34-4BBA-BE86-E22FF0C7A4FC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212389" y="1228725"/>
            <a:ext cx="4722617" cy="4956175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0DD1F4F9-BB52-4B25-9B41-32D12FC013A5}"/>
              </a:ext>
            </a:extLst>
          </p:cNvPr>
          <p:cNvPicPr/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385"/>
          <a:stretch/>
        </p:blipFill>
        <p:spPr bwMode="auto">
          <a:xfrm>
            <a:off x="5551222" y="141777"/>
            <a:ext cx="3183203" cy="3113087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5711197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90F34F1-4109-8692-AAEB-492AAB28C5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7500"/>
            <a:ext cx="10515600" cy="1325563"/>
          </a:xfrm>
        </p:spPr>
        <p:txBody>
          <a:bodyPr/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Вход и авторизация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FA8462FB-59CE-2695-1BD4-F8B541B2F8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FD44B-35C6-4D7F-8375-05542F4C3161}" type="slidenum">
              <a:rPr lang="ru-RU" smtClean="0"/>
              <a:t>14</a:t>
            </a:fld>
            <a:endParaRPr lang="ru-RU"/>
          </a:p>
        </p:txBody>
      </p:sp>
      <p:pic>
        <p:nvPicPr>
          <p:cNvPr id="8" name="Объект 7">
            <a:extLst>
              <a:ext uri="{FF2B5EF4-FFF2-40B4-BE49-F238E27FC236}">
                <a16:creationId xmlns:a16="http://schemas.microsoft.com/office/drawing/2014/main" id="{DA8F0ADE-B424-4A7D-9B89-D67F47231A54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362200"/>
            <a:ext cx="5981700" cy="3994150"/>
          </a:xfrm>
          <a:prstGeom prst="rect">
            <a:avLst/>
          </a:prstGeom>
        </p:spPr>
      </p:pic>
      <p:pic>
        <p:nvPicPr>
          <p:cNvPr id="9" name="Объект 8">
            <a:extLst>
              <a:ext uri="{FF2B5EF4-FFF2-40B4-BE49-F238E27FC236}">
                <a16:creationId xmlns:a16="http://schemas.microsoft.com/office/drawing/2014/main" id="{E239A095-C37A-491B-B5DB-0E2805A034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0053" y="437438"/>
            <a:ext cx="1563843" cy="3486068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C2A84A46-C26D-4F61-B37E-09C6CD2B27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82200" y="1956344"/>
            <a:ext cx="1563843" cy="3490586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30811864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873C9AC-CAF6-69F0-AA70-C9D75D819E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Профиль пользователя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8F7EC129-0F4F-4A4E-8F87-B62928002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FD44B-35C6-4D7F-8375-05542F4C3161}" type="slidenum">
              <a:rPr lang="ru-RU" smtClean="0"/>
              <a:t>15</a:t>
            </a:fld>
            <a:endParaRPr lang="ru-RU"/>
          </a:p>
        </p:txBody>
      </p:sp>
      <p:pic>
        <p:nvPicPr>
          <p:cNvPr id="10" name="Объект 9">
            <a:extLst>
              <a:ext uri="{FF2B5EF4-FFF2-40B4-BE49-F238E27FC236}">
                <a16:creationId xmlns:a16="http://schemas.microsoft.com/office/drawing/2014/main" id="{23E79A03-8392-4E20-A46E-CF6AA0F70A48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38150" y="1525588"/>
            <a:ext cx="4378309" cy="5129212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D8D0CBD5-4B78-4A88-BC2E-951C21CC5E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39350" y="259085"/>
            <a:ext cx="1828800" cy="4095662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837F97FE-95BD-4FE6-B99B-93129B27EE3F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5038726" y="2971800"/>
            <a:ext cx="4578334" cy="3384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64961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D73FD46-87F4-CDEC-9212-0C0ED042AA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851573" cy="1325563"/>
          </a:xfrm>
        </p:spPr>
        <p:txBody>
          <a:bodyPr/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Создание договора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2BDD8091-86CC-919D-A3F0-414616C0A4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FD44B-35C6-4D7F-8375-05542F4C3161}" type="slidenum">
              <a:rPr lang="ru-RU" smtClean="0"/>
              <a:t>16</a:t>
            </a:fld>
            <a:endParaRPr lang="ru-RU"/>
          </a:p>
        </p:txBody>
      </p:sp>
      <p:pic>
        <p:nvPicPr>
          <p:cNvPr id="10" name="Объект 9">
            <a:extLst>
              <a:ext uri="{FF2B5EF4-FFF2-40B4-BE49-F238E27FC236}">
                <a16:creationId xmlns:a16="http://schemas.microsoft.com/office/drawing/2014/main" id="{D3B51835-CB7B-46C8-A103-E0C52464D417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82996" y="1690688"/>
            <a:ext cx="4968107" cy="4351338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F7B6FDE9-66D2-4E07-B78B-B2C6C6FC9E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2017" y="1941549"/>
            <a:ext cx="2011094" cy="4483063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6BB275D0-BBAA-4EDD-AADC-516A386FF8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64025" y="365125"/>
            <a:ext cx="1925747" cy="4283895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4269539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B2ABD22-56F7-C960-2F4E-135B53AA5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695709" cy="1325563"/>
          </a:xfrm>
        </p:spPr>
        <p:txBody>
          <a:bodyPr/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Администрирование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82A48395-B7A4-D852-C66B-F7504AD1D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FD44B-35C6-4D7F-8375-05542F4C3161}" type="slidenum">
              <a:rPr lang="ru-RU" smtClean="0"/>
              <a:t>17</a:t>
            </a:fld>
            <a:endParaRPr lang="ru-RU"/>
          </a:p>
        </p:txBody>
      </p:sp>
      <p:pic>
        <p:nvPicPr>
          <p:cNvPr id="9" name="Объект 8">
            <a:extLst>
              <a:ext uri="{FF2B5EF4-FFF2-40B4-BE49-F238E27FC236}">
                <a16:creationId xmlns:a16="http://schemas.microsoft.com/office/drawing/2014/main" id="{4CCAADEB-53F1-4C0D-897A-3867B9FC330A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9893" y="1762125"/>
            <a:ext cx="4720758" cy="4776787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289BA20C-B553-4ED3-A02B-43E229D1C8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8192" y="3323087"/>
            <a:ext cx="4720758" cy="3225037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17A327FA-DD30-4103-8261-24D962EF18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30791" y="191774"/>
            <a:ext cx="2103117" cy="3072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80238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0ED1720-572F-D05C-6F95-618120A6B1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Заключение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352A720-9F07-3987-CBF6-4B7C6EEF60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ходе работы были решены следующие задачи: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спроектирована архитектура и база данных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разработан административный блок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реализована серверная и клиентские части</a:t>
            </a:r>
          </a:p>
          <a:p>
            <a:pPr marL="0" indent="0">
              <a:buNone/>
            </a:pP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B7E23C1-38ED-15BE-6E36-E563C40CA8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FD44B-35C6-4D7F-8375-05542F4C3161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207720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1D0B3C-4330-775A-D8A5-7BDDA7A225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6700" y="190501"/>
            <a:ext cx="11658600" cy="1276349"/>
          </a:xfrm>
        </p:spPr>
        <p:txBody>
          <a:bodyPr>
            <a:normAutofit/>
          </a:bodyPr>
          <a:lstStyle/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МИНОБРНАУКИ РОССИИ ФЕДЕРАЛЬНОЕ ГОСУДАРСТВЕННОЕ БЮДЖЕТНОЕ ОБРАЗОВАТЕЛЬНОЕ УЧРЕЖДЕНИЕ ВЫСШЕГО ОБРАЗОВАНИЯ «ВОРОНЕЖСКИЙ ГОСУДАРСТВЕННЫЙ УНИВЕРСИТЕТ» (ФГБОУ ВО «ВГУ») 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41DE144-93D5-2280-8A77-9356B71E17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905000"/>
            <a:ext cx="9144000" cy="703911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00000"/>
              </a:lnSpc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Факультет компьютерных наук </a:t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Кафедра программирования и информационных технологий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12847BE-98AB-59E3-A177-3FA39E069FD2}"/>
              </a:ext>
            </a:extLst>
          </p:cNvPr>
          <p:cNvSpPr txBox="1"/>
          <p:nvPr/>
        </p:nvSpPr>
        <p:spPr>
          <a:xfrm>
            <a:off x="485775" y="3047061"/>
            <a:ext cx="11220450" cy="1179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ru-RU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Разработка информационной системы предоставления краткосрочной аренды </a:t>
            </a:r>
            <a:r>
              <a:rPr lang="ru-RU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автомобией</a:t>
            </a:r>
            <a:endParaRPr lang="ru-RU" sz="3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1228718-D8F8-BF9A-8013-0211D7649721}"/>
              </a:ext>
            </a:extLst>
          </p:cNvPr>
          <p:cNvSpPr txBox="1"/>
          <p:nvPr/>
        </p:nvSpPr>
        <p:spPr>
          <a:xfrm>
            <a:off x="6838950" y="5225534"/>
            <a:ext cx="508635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Научный руководитель: Ушаков В.А.</a:t>
            </a: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Выполнила: Мельник В.А.</a:t>
            </a:r>
          </a:p>
        </p:txBody>
      </p:sp>
    </p:spTree>
    <p:extLst>
      <p:ext uri="{BB962C8B-B14F-4D97-AF65-F5344CB8AC3E}">
        <p14:creationId xmlns:p14="http://schemas.microsoft.com/office/powerpoint/2010/main" val="238558666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236</TotalTime>
  <Words>351</Words>
  <Application>Microsoft Office PowerPoint</Application>
  <PresentationFormat>Широкоэкранный</PresentationFormat>
  <Paragraphs>94</Paragraphs>
  <Slides>19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19</vt:i4>
      </vt:variant>
    </vt:vector>
  </HeadingPairs>
  <TitlesOfParts>
    <vt:vector size="24" baseType="lpstr">
      <vt:lpstr>Arial</vt:lpstr>
      <vt:lpstr>Calibri</vt:lpstr>
      <vt:lpstr>Calibri Light</vt:lpstr>
      <vt:lpstr>Times New Roman</vt:lpstr>
      <vt:lpstr>Тема Office</vt:lpstr>
      <vt:lpstr>МИНОБРНАУКИ РОССИИ ФЕДЕРАЛЬНОЕ ГОСУДАРСТВЕННОЕ БЮДЖЕТНОЕ ОБРАЗОВАТЕЛЬНОЕ УЧРЕЖДЕНИЕ ВЫСШЕГО ОБРАЗОВАНИЯ «ВОРОНЕЖСКИЙ ГОСУДАРСТВЕННЫЙ УНИВЕРСИТЕТ» (ФГБОУ ВО «ВГУ») </vt:lpstr>
      <vt:lpstr>Актуальность</vt:lpstr>
      <vt:lpstr>Цель работы</vt:lpstr>
      <vt:lpstr>Задачи</vt:lpstr>
      <vt:lpstr>Обзор аналогов</vt:lpstr>
      <vt:lpstr>Средства реализации</vt:lpstr>
      <vt:lpstr>Архитектура</vt:lpstr>
      <vt:lpstr>Диаграмма развёртывания</vt:lpstr>
      <vt:lpstr>Проектирование базы данных</vt:lpstr>
      <vt:lpstr>Алгоритм действий пользователя</vt:lpstr>
      <vt:lpstr>Диаграмма последовательностей</vt:lpstr>
      <vt:lpstr>Диаграмма прецедентов</vt:lpstr>
      <vt:lpstr>Главная</vt:lpstr>
      <vt:lpstr>Вход и авторизация</vt:lpstr>
      <vt:lpstr>Профиль пользователя</vt:lpstr>
      <vt:lpstr>Создание договора</vt:lpstr>
      <vt:lpstr>Администрирование</vt:lpstr>
      <vt:lpstr>Заключение</vt:lpstr>
      <vt:lpstr>МИНОБРНАУКИ РОССИИ ФЕДЕРАЛЬНОЕ ГОСУДАРСТВЕННОЕ БЮДЖЕТНОЕ ОБРАЗОВАТЕЛЬНОЕ УЧРЕЖДЕНИЕ ВЫСШЕГО ОБРАЗОВАНИЯ «ВОРОНЕЖСКИЙ ГОСУДАРСТВЕННЫЙ УНИВЕРСИТЕТ» (ФГБОУ ВО «ВГУ»)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МИНОБРНАУКИ РОССИИ ФЕДЕРАЛЬНОЕ ГОСУДАРСТВЕННОЕ БЮДЖЕТНОЕ ОБРАЗОВАТЕЛЬНОЕ УЧРЕЖДЕНИЕ ВЫСШЕГО ОБРАЗОВАНИЯ «ВОРОНЕЖСКИЙ ГОСУДАРСТВЕННЫЙ УНИВЕРСИТЕТ» (ФГБОУ ВО «ВГУ»)</dc:title>
  <dc:creator>Кристина Брянцева</dc:creator>
  <cp:lastModifiedBy>Владимир Мельник</cp:lastModifiedBy>
  <cp:revision>17</cp:revision>
  <dcterms:created xsi:type="dcterms:W3CDTF">2026-05-27T16:30:56Z</dcterms:created>
  <dcterms:modified xsi:type="dcterms:W3CDTF">2026-06-05T21:05:03Z</dcterms:modified>
</cp:coreProperties>
</file>